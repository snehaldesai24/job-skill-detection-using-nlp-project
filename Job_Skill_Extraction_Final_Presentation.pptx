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73" r:id="rId9"/>
    <p:sldId id="262" r:id="rId10"/>
    <p:sldId id="274" r:id="rId11"/>
    <p:sldId id="263" r:id="rId12"/>
    <p:sldId id="275" r:id="rId13"/>
    <p:sldId id="276" r:id="rId14"/>
    <p:sldId id="264" r:id="rId15"/>
    <p:sldId id="277" r:id="rId16"/>
    <p:sldId id="278" r:id="rId17"/>
    <p:sldId id="265" r:id="rId18"/>
    <p:sldId id="281" r:id="rId19"/>
    <p:sldId id="266" r:id="rId20"/>
    <p:sldId id="282" r:id="rId21"/>
    <p:sldId id="267" r:id="rId22"/>
    <p:sldId id="283" r:id="rId23"/>
    <p:sldId id="280" r:id="rId24"/>
    <p:sldId id="268" r:id="rId25"/>
    <p:sldId id="279" r:id="rId26"/>
    <p:sldId id="269" r:id="rId27"/>
    <p:sldId id="284" r:id="rId28"/>
    <p:sldId id="270" r:id="rId29"/>
    <p:sldId id="27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8046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dirty="0">
                <a:solidFill>
                  <a:srgbClr val="25BEBE"/>
                </a:solidFill>
                <a:latin typeface="Aptos"/>
              </a:rPr>
              <a:t>FINAL INTERNSHIP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9848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Job Skill Extraction
from Job Descriptions using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77724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C6D1E2"/>
                </a:solidFill>
                <a:latin typeface="Aptos"/>
              </a:rPr>
              <a:t>Turning 1.6M+ unstructured job descriptions into structured, standardized skills.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749039"/>
            <a:ext cx="1417320" cy="384048"/>
          </a:xfrm>
          <a:prstGeom prst="round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3794759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3749039"/>
            <a:ext cx="1691640" cy="384048"/>
          </a:xfrm>
          <a:prstGeom prst="round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4560" y="3794759"/>
            <a:ext cx="1691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Machine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749039"/>
            <a:ext cx="1508760" cy="384048"/>
          </a:xfrm>
          <a:prstGeom prst="roundRect">
            <a:avLst/>
          </a:prstGeom>
          <a:solidFill>
            <a:srgbClr val="2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3794759"/>
            <a:ext cx="15087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Transformers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297680"/>
            <a:ext cx="1600200" cy="384048"/>
          </a:xfrm>
          <a:prstGeom prst="round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4343400"/>
            <a:ext cx="1600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Power 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4297680"/>
            <a:ext cx="1783080" cy="384048"/>
          </a:xfrm>
          <a:prstGeom prst="roundRect">
            <a:avLst/>
          </a:prstGeom>
          <a:solidFill>
            <a:srgbClr val="35A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4343400"/>
            <a:ext cx="1783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Skill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1500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AAB7CC"/>
                </a:solidFill>
                <a:latin typeface="Aptos"/>
              </a:rPr>
              <a:t>Snehal Desai  |  Internship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6A0B4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637"/>
                </a:solidFill>
                <a:latin typeface="Aptos Display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A80"/>
                </a:solidFill>
                <a:latin typeface="Aptos"/>
              </a:rPr>
              <a:t>Why automatic skill extraction is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42519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425196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71800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 dirty="0">
                <a:solidFill>
                  <a:srgbClr val="5C6A80"/>
                </a:solidFill>
                <a:latin typeface="Aptos"/>
              </a:rPr>
              <a:t>Recruiters must read large volumes of job descriptions to identify required skills.
The information is unstructured, inconsistent and often contains abbreviations, synonyms and multi-word technologies.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2519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425196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WHY RULES ALONE FALL SHORT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971800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Python / Python 3
ML / Machine Learning
PowerBI / Power BI
Natural Language Processing
A simple keyword search can miss or duplicate skills.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42519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73152" cy="4251960"/>
          </a:xfrm>
          <a:prstGeom prst="rect">
            <a:avLst/>
          </a:prstGeom>
          <a:solidFill>
            <a:srgbClr val="2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2971800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Build an NLP pipeline that:
• cleans text
• identifies skills
• handles variations
• normalizes names
• evaluates extraction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A80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Business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C8D8"/>
                </a:solidFill>
                <a:latin typeface="Aptos"/>
              </a:rPr>
              <a:t>From extracted skills to recruitment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57400" cy="960120"/>
          </a:xfrm>
          <a:prstGeom prst="roundRect">
            <a:avLst/>
          </a:prstGeom>
          <a:solidFill>
            <a:srgbClr val="1F2A40"/>
          </a:solidFill>
          <a:ln>
            <a:solidFill>
              <a:srgbClr val="2E6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JOB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2304288"/>
            <a:ext cx="457200" cy="0"/>
          </a:xfrm>
          <a:prstGeom prst="line">
            <a:avLst/>
          </a:prstGeom>
          <a:ln w="25400">
            <a:solidFill>
              <a:srgbClr val="82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46120" y="1828800"/>
            <a:ext cx="2057400" cy="960120"/>
          </a:xfrm>
          <a:prstGeom prst="roundRect">
            <a:avLst/>
          </a:prstGeom>
          <a:solidFill>
            <a:srgbClr val="1F2A40"/>
          </a:solidFill>
          <a:ln>
            <a:solidFill>
              <a:srgbClr val="7C5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6120" y="210312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SKILL EXTRACTION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03520" y="2304288"/>
            <a:ext cx="685800" cy="0"/>
          </a:xfrm>
          <a:prstGeom prst="line">
            <a:avLst/>
          </a:prstGeom>
          <a:ln w="25400">
            <a:solidFill>
              <a:srgbClr val="82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89320" y="1828800"/>
            <a:ext cx="2057400" cy="960120"/>
          </a:xfrm>
          <a:prstGeom prst="roundRect">
            <a:avLst/>
          </a:prstGeom>
          <a:solidFill>
            <a:srgbClr val="1F2A40"/>
          </a:solidFill>
          <a:ln>
            <a:solidFill>
              <a:srgbClr val="25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210312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STANDARDIZED SKILLS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2304288"/>
            <a:ext cx="685800" cy="0"/>
          </a:xfrm>
          <a:prstGeom prst="line">
            <a:avLst/>
          </a:prstGeom>
          <a:ln w="25400">
            <a:solidFill>
              <a:srgbClr val="82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32520" y="1828800"/>
            <a:ext cx="2057400" cy="960120"/>
          </a:xfrm>
          <a:prstGeom prst="roundRect">
            <a:avLst/>
          </a:prstGeom>
          <a:solidFill>
            <a:srgbClr val="1F2A40"/>
          </a:solidFill>
          <a:ln>
            <a:solidFill>
              <a:srgbClr val="35A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210312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BUSINESS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DD6E5"/>
                </a:solidFill>
                <a:latin typeface="Aptos"/>
              </a:defRPr>
            </a:pPr>
            <a:r>
              <a:t>• Recruitment automation — reduce manual screening effort</a:t>
            </a:r>
          </a:p>
          <a:p>
            <a:pPr>
              <a:spcAft>
                <a:spcPts val="1000"/>
              </a:spcAft>
              <a:defRPr sz="1500">
                <a:solidFill>
                  <a:srgbClr val="CDD6E5"/>
                </a:solidFill>
                <a:latin typeface="Aptos"/>
              </a:defRPr>
            </a:pPr>
            <a:r>
              <a:t>• Candidate–job matching — compare required and available skills</a:t>
            </a:r>
          </a:p>
          <a:p>
            <a:pPr>
              <a:spcAft>
                <a:spcPts val="1000"/>
              </a:spcAft>
              <a:defRPr sz="1500">
                <a:solidFill>
                  <a:srgbClr val="CDD6E5"/>
                </a:solidFill>
                <a:latin typeface="Aptos"/>
              </a:defRPr>
            </a:pPr>
            <a:r>
              <a:t>• Skill-gap analysis — identify missing capabilities</a:t>
            </a:r>
          </a:p>
          <a:p>
            <a:pPr>
              <a:spcAft>
                <a:spcPts val="1000"/>
              </a:spcAft>
              <a:defRPr sz="1500">
                <a:solidFill>
                  <a:srgbClr val="CDD6E5"/>
                </a:solidFill>
                <a:latin typeface="Aptos"/>
              </a:defRPr>
            </a:pPr>
            <a:r>
              <a:t>• Job-market analytics — discover high-demand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25BEBE"/>
                </a:solidFill>
                <a:latin typeface="Aptos"/>
              </a:rPr>
              <a:t>BUSINESS VALUE  •  Faster screening  •  Better matching  •  Data-driven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6A0B4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637"/>
                </a:solidFill>
                <a:latin typeface="Aptos Display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A80"/>
                </a:solidFill>
                <a:latin typeface="Aptos"/>
              </a:rPr>
              <a:t>Large-scale job posting data used for NLP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37744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21031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2E6DE6"/>
                </a:solidFill>
                <a:latin typeface="Aptos"/>
              </a:rPr>
              <a:t>1,615,940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5C6A80"/>
                </a:solidFill>
                <a:latin typeface="Aptos"/>
              </a:rPr>
              <a:t>Job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37744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581912"/>
            <a:ext cx="21031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7C5BCF"/>
                </a:solidFill>
                <a:latin typeface="Aptos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075688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5C6A80"/>
                </a:solidFill>
                <a:latin typeface="Aptos"/>
              </a:rPr>
              <a:t>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237744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581912"/>
            <a:ext cx="21031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25BEBE"/>
                </a:solidFill>
                <a:latin typeface="Aptos"/>
              </a:rPr>
              <a:t>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075688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5C6A80"/>
                </a:solidFill>
                <a:latin typeface="Aptos"/>
              </a:rPr>
              <a:t>Source 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417320"/>
            <a:ext cx="2377440" cy="11430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1581912"/>
            <a:ext cx="21031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35A871"/>
                </a:solidFill>
                <a:latin typeface="Aptos"/>
              </a:rPr>
              <a:t>Job 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075688"/>
            <a:ext cx="2103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5C6A80"/>
                </a:solidFill>
                <a:latin typeface="Aptos"/>
              </a:rPr>
              <a:t>Main NLP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212080" cy="256032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73152" cy="256032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1089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KEY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20440"/>
            <a:ext cx="4800600" cy="1828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Job Description
Unstructured text containing role requirements, responsibilities, technologies, experience and qualifications.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26080"/>
            <a:ext cx="5212080" cy="256032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926080"/>
            <a:ext cx="73152" cy="256032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1089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REFERENCE /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20440"/>
            <a:ext cx="4800600" cy="1828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skills
Used as a reference field for understanding and validating extracted skills where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10332720" cy="269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dirty="0">
                <a:solidFill>
                  <a:srgbClr val="5C6A80"/>
                </a:solidFill>
                <a:latin typeface="Aptos"/>
              </a:rPr>
              <a:t>Examples of fields: Job Title • Role • Experience • Location • Work Type • Responsibilities • Company</a:t>
            </a:r>
            <a:r>
              <a:rPr lang="en-IN" sz="1150" b="0" dirty="0">
                <a:solidFill>
                  <a:srgbClr val="5C6A80"/>
                </a:solidFill>
                <a:latin typeface="Aptos"/>
              </a:rPr>
              <a:t> • Job Description</a:t>
            </a:r>
            <a:endParaRPr sz="1150" b="0" dirty="0">
              <a:solidFill>
                <a:srgbClr val="5C6A8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A80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C8D8"/>
                </a:solidFill>
                <a:latin typeface="Aptos"/>
              </a:rPr>
              <a:t>Making noisy job text NLP-ready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438912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4389120"/>
          </a:xfrm>
          <a:prstGeom prst="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RAW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9718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&lt;p&gt;Data Analyst&lt;/p&gt; • Apply: www.company.com
Email: hr@company.com
Call: +91-9876543210
Required: Python, SQL, Power BI!!!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38912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438912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CLEANING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9718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HTML removal
URLs &amp; email removal
Phone-number removal
Special-character cleanup
Whitespace normalization
Duplicate / quality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438912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4389120"/>
          </a:xfrm>
          <a:prstGeom prst="rect">
            <a:avLst/>
          </a:prstGeom>
          <a:solidFill>
            <a:srgbClr val="35A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CLEAN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9718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Data Analyst
Required Python SQL 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5BEBE"/>
                </a:solidFill>
                <a:latin typeface="Aptos"/>
              </a:rPr>
              <a:t>Result: consistent text prepared for tokenization, matching and advanced NLP.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6A0B4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3AB261-4751-4F98-AB16-CAADDE9B04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3383" y="138747"/>
            <a:ext cx="2716530" cy="39951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B87C2B-62E9-4DBA-AA18-91AF6324BB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50444" y="138747"/>
            <a:ext cx="3520440" cy="39951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A9ACD1-E3E8-4D33-9077-52F846145D2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292340" y="138747"/>
            <a:ext cx="4358640" cy="529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A3891F-FA73-4264-8565-48A5B8B2557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41021" y="4472622"/>
            <a:ext cx="6307454" cy="196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3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637"/>
                </a:solidFill>
                <a:latin typeface="Aptos Display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A80"/>
                </a:solidFill>
                <a:latin typeface="Aptos"/>
              </a:rPr>
              <a:t>Understanding the dataset before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56032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488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JOB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48839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1.6M+ postings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1417320"/>
            <a:ext cx="256032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38728" y="1417320"/>
            <a:ext cx="73152" cy="182880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67328" y="1600200"/>
            <a:ext cx="21488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TEXT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011680"/>
            <a:ext cx="2148839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Length &amp; missing-value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1417320"/>
            <a:ext cx="256032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91656" y="1417320"/>
            <a:ext cx="73152" cy="1828800"/>
          </a:xfrm>
          <a:prstGeom prst="rect">
            <a:avLst/>
          </a:prstGeom>
          <a:solidFill>
            <a:srgbClr val="2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0256" y="1600200"/>
            <a:ext cx="21488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JOB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11680"/>
            <a:ext cx="2148839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Titles, roles &amp; locations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4584" y="1417320"/>
            <a:ext cx="2560320" cy="18288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44584" y="1417320"/>
            <a:ext cx="73152" cy="1828800"/>
          </a:xfrm>
          <a:prstGeom prst="rect">
            <a:avLst/>
          </a:prstGeom>
          <a:solidFill>
            <a:srgbClr val="35A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73184" y="1600200"/>
            <a:ext cx="21488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DATA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2011680"/>
            <a:ext cx="2148839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Duplicates &amp; completeness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539496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73152" cy="1874519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886200"/>
            <a:ext cx="4983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VISUAL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4983480" cy="1142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Top Job Titles
Jobs by Location
Description Length Distribution
Missing Values
Top Companies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03320"/>
            <a:ext cx="5257800" cy="1874519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703320"/>
            <a:ext cx="73152" cy="1874519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886200"/>
            <a:ext cx="4846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KEY 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4846320" cy="1142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EDA revealed the structure and quality of the dataset and confirmed Job Description as the core NLP field.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A80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26E0FA-08A8-4ABA-8E3B-C092DF40D0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7175" y="211455"/>
            <a:ext cx="4543425" cy="2834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57CF88-A24B-4986-8714-FC3C39BE3C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87594" y="211455"/>
            <a:ext cx="7047231" cy="2834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680DDB-78A9-40EB-9938-5F06AA60322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470" y="3505200"/>
            <a:ext cx="4391025" cy="2820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445B2-92DE-4974-BCAC-D854E0C68A7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580755" y="3325177"/>
            <a:ext cx="3332480" cy="2885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81DAB1-FCE3-424E-AD14-26378A95017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733924" y="3505200"/>
            <a:ext cx="3581402" cy="252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7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NLP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C8D8"/>
                </a:solidFill>
                <a:latin typeface="Aptos"/>
              </a:rPr>
              <a:t>End-to-end architecture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686" y="1958645"/>
            <a:ext cx="965834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2E6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8125" y="2212848"/>
            <a:ext cx="767715" cy="23378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Job Dataset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26236" y="2415845"/>
            <a:ext cx="164592" cy="0"/>
          </a:xfrm>
          <a:prstGeom prst="line">
            <a:avLst/>
          </a:prstGeom>
          <a:ln>
            <a:solidFill>
              <a:srgbClr val="87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277112" y="1938528"/>
            <a:ext cx="920496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25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81125" y="2250794"/>
            <a:ext cx="770763" cy="23378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Cleaning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7608" y="2415845"/>
            <a:ext cx="164592" cy="0"/>
          </a:xfrm>
          <a:prstGeom prst="line">
            <a:avLst/>
          </a:prstGeom>
          <a:ln>
            <a:solidFill>
              <a:srgbClr val="87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16480" y="1988819"/>
            <a:ext cx="1325880" cy="868681"/>
          </a:xfrm>
          <a:prstGeom prst="roundRect">
            <a:avLst>
              <a:gd name="adj" fmla="val 0"/>
            </a:avLst>
          </a:prstGeom>
          <a:solidFill>
            <a:srgbClr val="1F2A40"/>
          </a:solidFill>
          <a:ln>
            <a:solidFill>
              <a:srgbClr val="7C5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98776" y="2244086"/>
            <a:ext cx="12344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NLP Preprocessing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33215" y="2446628"/>
            <a:ext cx="164592" cy="0"/>
          </a:xfrm>
          <a:prstGeom prst="line">
            <a:avLst/>
          </a:prstGeom>
          <a:ln>
            <a:solidFill>
              <a:srgbClr val="87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80663" y="1971673"/>
            <a:ext cx="1143000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35A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2288" y="2275559"/>
            <a:ext cx="1051560" cy="23378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Skill Taxonomy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23663" y="2446630"/>
            <a:ext cx="164592" cy="0"/>
          </a:xfrm>
          <a:prstGeom prst="line">
            <a:avLst/>
          </a:prstGeom>
          <a:ln>
            <a:solidFill>
              <a:srgbClr val="87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449" y="1950422"/>
            <a:ext cx="1309306" cy="935651"/>
          </a:xfrm>
          <a:prstGeom prst="roundRect">
            <a:avLst/>
          </a:prstGeom>
          <a:solidFill>
            <a:srgbClr val="1F2A40"/>
          </a:solidFill>
          <a:ln>
            <a:solidFill>
              <a:srgbClr val="E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0739" y="2240278"/>
            <a:ext cx="1115568" cy="3752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Regex + Phrase Matching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1755" y="2446630"/>
            <a:ext cx="164592" cy="0"/>
          </a:xfrm>
          <a:prstGeom prst="line">
            <a:avLst/>
          </a:prstGeom>
          <a:ln>
            <a:solidFill>
              <a:srgbClr val="87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57201" y="1985314"/>
            <a:ext cx="1325880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7C5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6347" y="2275559"/>
            <a:ext cx="12344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ML / Transformer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04987" y="2423160"/>
            <a:ext cx="164592" cy="0"/>
          </a:xfrm>
          <a:prstGeom prst="line">
            <a:avLst/>
          </a:prstGeom>
          <a:ln>
            <a:solidFill>
              <a:srgbClr val="87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55293" y="1994533"/>
            <a:ext cx="1143000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25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6825" y="2285998"/>
            <a:ext cx="1051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Normalization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98293" y="2451733"/>
            <a:ext cx="164592" cy="0"/>
          </a:xfrm>
          <a:prstGeom prst="line">
            <a:avLst/>
          </a:prstGeom>
          <a:ln>
            <a:solidFill>
              <a:srgbClr val="87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791" y="1985314"/>
            <a:ext cx="1143000" cy="914400"/>
          </a:xfrm>
          <a:prstGeom prst="roundRect">
            <a:avLst/>
          </a:prstGeom>
          <a:solidFill>
            <a:srgbClr val="1F2A40"/>
          </a:solidFill>
          <a:ln>
            <a:solidFill>
              <a:srgbClr val="E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67481" y="2298954"/>
            <a:ext cx="813816" cy="23378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15791" y="2484576"/>
            <a:ext cx="164592" cy="0"/>
          </a:xfrm>
          <a:prstGeom prst="line">
            <a:avLst/>
          </a:prstGeom>
          <a:ln>
            <a:solidFill>
              <a:srgbClr val="879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710481" y="2013589"/>
            <a:ext cx="1280159" cy="843911"/>
          </a:xfrm>
          <a:prstGeom prst="roundRect">
            <a:avLst/>
          </a:prstGeom>
          <a:solidFill>
            <a:srgbClr val="1F2A40"/>
          </a:solidFill>
          <a:ln>
            <a:solidFill>
              <a:srgbClr val="35A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0733340" y="2308475"/>
            <a:ext cx="12344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Dashboard /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Goal: transform unstructured text into a clean, standardized and evaluatable skill list.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92040"/>
            <a:ext cx="100584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25BEBE"/>
                </a:solidFill>
                <a:latin typeface="Aptos"/>
              </a:rPr>
              <a:t>Dictionary → Regex → Phrase Matching → TF-IDF / N-Grams → ML → Transformers → Normalization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6A0B4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D7FD76-276A-4578-A2E7-87F48728D5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2505" y="462915"/>
            <a:ext cx="4587240" cy="5577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DE6877-2E42-41CC-8111-1355E203E52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831332" y="313372"/>
            <a:ext cx="3455668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637"/>
                </a:solidFill>
                <a:latin typeface="Aptos Display"/>
              </a:rPr>
              <a:t>Rule-Based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A80"/>
                </a:solidFill>
                <a:latin typeface="Aptos"/>
              </a:rPr>
              <a:t>A transparent baseline, strengthened with Regex and Phrase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44805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1  DICTIONARY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1752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Master skill taxonomy
Python • SQL • Excel
Power BI • Tableau
AWS • Azure
Machine Learning • 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44805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448056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2  REGEX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01752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Handles variations:
Python 3 → Python
Python programming → Python
PowerBI → Power BI
Power-BI → Power 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429000" cy="44805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73152" cy="4480560"/>
          </a:xfrm>
          <a:prstGeom prst="rect">
            <a:avLst/>
          </a:prstGeom>
          <a:solidFill>
            <a:srgbClr val="2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3  PHRASE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01752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Detects complete phrases:
Machine Learning
Deep Learning
Natural Language Processing
Data Science
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35A871"/>
                </a:solidFill>
                <a:latin typeface="Aptos"/>
              </a:rPr>
              <a:t>Outcome: stronger baseline for known skills, variations and multi-word terms.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A80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0E342F-AF9C-4387-AF88-685D38024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0" y="3970065"/>
            <a:ext cx="5437087" cy="25148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91BAAC-3201-4BE0-A8E2-B7EEE1938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603" y="180866"/>
            <a:ext cx="5704090" cy="3558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B129A3-45C3-44A0-BB65-C203630DA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1" y="123716"/>
            <a:ext cx="5704089" cy="41149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61185-8153-4017-826C-111B63265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61" y="4387120"/>
            <a:ext cx="6077439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77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84469E-A876-4763-98F8-12D39788CA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1463" y="222249"/>
            <a:ext cx="5685156" cy="30283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8F6A87-8747-4755-96C2-0F87582322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97295" y="222249"/>
            <a:ext cx="5731510" cy="3028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72153E-C361-4E2C-84F9-65D56F3737D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71463" y="3354704"/>
            <a:ext cx="5824537" cy="3169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88F04-03B5-423E-8E7C-ED28EC837EE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97295" y="3428999"/>
            <a:ext cx="573151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33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Machine 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C8D8"/>
                </a:solidFill>
                <a:latin typeface="Aptos"/>
              </a:rPr>
              <a:t>Moving from manually defined rules to learned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057400" cy="960120"/>
          </a:xfrm>
          <a:prstGeom prst="roundRect">
            <a:avLst/>
          </a:prstGeom>
          <a:solidFill>
            <a:srgbClr val="1F2A40"/>
          </a:solidFill>
          <a:ln>
            <a:solidFill>
              <a:srgbClr val="2E6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Labeled Skill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2304288"/>
            <a:ext cx="548640" cy="0"/>
          </a:xfrm>
          <a:prstGeom prst="line">
            <a:avLst/>
          </a:prstGeom>
          <a:ln>
            <a:solidFill>
              <a:srgbClr val="8C9B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03320" y="1828800"/>
            <a:ext cx="2057400" cy="960120"/>
          </a:xfrm>
          <a:prstGeom prst="roundRect">
            <a:avLst/>
          </a:prstGeom>
          <a:solidFill>
            <a:srgbClr val="1F2A40"/>
          </a:solidFill>
          <a:ln>
            <a:solidFill>
              <a:srgbClr val="7C5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210312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TF-IDF Features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720" y="2304288"/>
            <a:ext cx="548640" cy="0"/>
          </a:xfrm>
          <a:prstGeom prst="line">
            <a:avLst/>
          </a:prstGeom>
          <a:ln>
            <a:solidFill>
              <a:srgbClr val="8C9B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1828800"/>
            <a:ext cx="2057400" cy="960120"/>
          </a:xfrm>
          <a:prstGeom prst="roundRect">
            <a:avLst/>
          </a:prstGeom>
          <a:solidFill>
            <a:srgbClr val="1F2A40"/>
          </a:solidFill>
          <a:ln>
            <a:solidFill>
              <a:srgbClr val="25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Logistic Regression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2304288"/>
            <a:ext cx="548640" cy="0"/>
          </a:xfrm>
          <a:prstGeom prst="line">
            <a:avLst/>
          </a:prstGeom>
          <a:ln>
            <a:solidFill>
              <a:srgbClr val="8C9B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81159" y="1828800"/>
            <a:ext cx="2057400" cy="960120"/>
          </a:xfrm>
          <a:prstGeom prst="roundRect">
            <a:avLst/>
          </a:prstGeom>
          <a:solidFill>
            <a:srgbClr val="1F2A40"/>
          </a:solidFill>
          <a:ln>
            <a:solidFill>
              <a:srgbClr val="35A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1159" y="210312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Skill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5BEBE"/>
                </a:solidFill>
                <a:latin typeface="Aptos"/>
              </a:rPr>
              <a:t>Example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86200"/>
            <a:ext cx="2468880" cy="114300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3886200"/>
            <a:ext cx="73152" cy="114300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80560"/>
            <a:ext cx="2057400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SKILL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79" y="3886200"/>
            <a:ext cx="2468880" cy="114300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11879" y="3886200"/>
            <a:ext cx="73152" cy="114300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79" y="406908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4480560"/>
            <a:ext cx="2057400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86200"/>
            <a:ext cx="2468880" cy="114300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3886200"/>
            <a:ext cx="73152" cy="1143000"/>
          </a:xfrm>
          <a:prstGeom prst="rect">
            <a:avLst/>
          </a:prstGeom>
          <a:solidFill>
            <a:srgbClr val="35A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406908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480560"/>
            <a:ext cx="2057400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DATABASE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19" y="3886200"/>
            <a:ext cx="2468880" cy="114300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89719" y="3886200"/>
            <a:ext cx="73152" cy="1143000"/>
          </a:xfrm>
          <a:prstGeom prst="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19" y="406908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Power 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19" y="4480560"/>
            <a:ext cx="2057400" cy="4114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BI 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CDD6E5"/>
                </a:solidFill>
                <a:latin typeface="Aptos"/>
              </a:rPr>
              <a:t>Advantage: the classifier learns from labeled examples rather than relying only on manually written rules.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6A0B4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931116-D9DC-4E47-BDBB-A5856C6A23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4490" y="320992"/>
            <a:ext cx="8223925" cy="23990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F6D019-26E0-404C-A420-4C1AB907F7D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958805" y="14467"/>
            <a:ext cx="3099508" cy="63400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445716-8CD7-4FB4-9941-6F32219F6D1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64490" y="2870522"/>
            <a:ext cx="7957017" cy="377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7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F27D54-2ABD-4036-8921-C86202EC63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1936" y="243254"/>
            <a:ext cx="5731510" cy="26619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E55C4-3D5F-4EB0-A0AE-10532DD7864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1936" y="3204599"/>
            <a:ext cx="5731510" cy="32772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1546F8-1D4A-4675-A558-233A2C00BE9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218555" y="243254"/>
            <a:ext cx="5731510" cy="2854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A774BE-AF8D-42B9-9EC7-24B32BB150C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18555" y="3204600"/>
            <a:ext cx="5731510" cy="31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5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637"/>
                </a:solidFill>
                <a:latin typeface="Aptos Display"/>
              </a:rPr>
              <a:t>Transformer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A80"/>
                </a:solidFill>
                <a:latin typeface="Aptos"/>
              </a:rPr>
              <a:t>Adding contextual understanding for advanced NLP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291840" cy="443484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43484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880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WHY TRANSFORMERS?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880360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Keyword matching focuses on exact forms.
Transformers use surrounding context to understand how words and phrases are used.
Models explored: BERT, DistilBERT, RoBERTa.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25880"/>
            <a:ext cx="3291840" cy="443484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325880"/>
            <a:ext cx="73152" cy="443484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2880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EXAMPLE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2880360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“Experience with Python, SQL and AWS.”
↓
Context-aware entity / skill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25880"/>
            <a:ext cx="3291840" cy="443484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1325880"/>
            <a:ext cx="73152" cy="4434840"/>
          </a:xfrm>
          <a:prstGeom prst="rect">
            <a:avLst/>
          </a:prstGeom>
          <a:solidFill>
            <a:srgbClr val="2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508760"/>
            <a:ext cx="2880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920240"/>
            <a:ext cx="2880360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Python → SKILL
SQL → SKILL
AWS → SKILL
Potential foundation for a domain-specific fine-tuned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A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D43ACC-9FB6-48A7-9C2D-29283048C4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8721" y="212009"/>
            <a:ext cx="5608320" cy="49987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E99CE2-84F0-41EC-B9A3-85FF1664211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04005" y="212009"/>
            <a:ext cx="4511040" cy="20345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F0984B-F9E7-4725-B662-45B0964937A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704005" y="2246549"/>
            <a:ext cx="6159274" cy="372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54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C8D8"/>
                </a:solidFill>
                <a:latin typeface="Aptos"/>
              </a:rPr>
              <a:t>Compare approaches using evidence, not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7480" y="1417320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BECADC"/>
                </a:solidFill>
                <a:latin typeface="Aptos"/>
              </a:rPr>
              <a:t>Fast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444752"/>
            <a:ext cx="5212080" cy="292608"/>
          </a:xfrm>
          <a:prstGeom prst="roundRect">
            <a:avLst/>
          </a:prstGeom>
          <a:solidFill>
            <a:srgbClr val="3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52760" y="1399032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ADD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3704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Regex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03704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BECADC"/>
                </a:solidFill>
                <a:latin typeface="Aptos"/>
              </a:rPr>
              <a:t>Variation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2231136"/>
            <a:ext cx="5212080" cy="292608"/>
          </a:xfrm>
          <a:prstGeom prst="roundRect">
            <a:avLst/>
          </a:prstGeom>
          <a:solidFill>
            <a:srgbClr val="3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52760" y="2185416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ADD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8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Phrase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990088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BECADC"/>
                </a:solidFill>
                <a:latin typeface="Aptos"/>
              </a:rPr>
              <a:t>Multi-word 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017520"/>
            <a:ext cx="5212080" cy="292608"/>
          </a:xfrm>
          <a:prstGeom prst="roundRect">
            <a:avLst/>
          </a:prstGeom>
          <a:solidFill>
            <a:srgbClr val="3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52760" y="2971800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ADD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76472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776472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BECADC"/>
                </a:solidFill>
                <a:latin typeface="Aptos"/>
              </a:rPr>
              <a:t>Learned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3803904"/>
            <a:ext cx="5212080" cy="292608"/>
          </a:xfrm>
          <a:prstGeom prst="roundRect">
            <a:avLst/>
          </a:prstGeom>
          <a:solidFill>
            <a:srgbClr val="3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3758184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ADD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62856"/>
            <a:ext cx="1828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Transformer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562856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BECADC"/>
                </a:solidFill>
                <a:latin typeface="Aptos"/>
              </a:rPr>
              <a:t>Contextual NLP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4590288"/>
            <a:ext cx="5212080" cy="292608"/>
          </a:xfrm>
          <a:prstGeom prst="roundRect">
            <a:avLst/>
          </a:prstGeom>
          <a:solidFill>
            <a:srgbClr val="30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60" y="4544568"/>
            <a:ext cx="914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ADD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25BEBE"/>
                </a:solidFill>
                <a:latin typeface="Aptos"/>
              </a:rPr>
              <a:t>Metrics: Precision  •  Recall  •  F1-Score  • 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080760"/>
            <a:ext cx="10058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0">
                <a:solidFill>
                  <a:srgbClr val="BECADC"/>
                </a:solidFill>
                <a:latin typeface="Aptos"/>
              </a:rPr>
              <a:t>Replace “ADD SCORE” with your actual evaluation values from the final notebook.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6A0B4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2C4E32-5E65-408E-B2C1-E72D7B3F6D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9978" y="0"/>
            <a:ext cx="5065399" cy="266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C78084-825C-4EBE-B34B-B0CB805561D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72677" y="163396"/>
            <a:ext cx="4769252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25F691-1859-4D04-9462-1F8BFE181B2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39978" y="3352995"/>
            <a:ext cx="3956490" cy="1970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2F72E1-554D-41C5-88E3-5FE7DCFE79A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691502" y="383557"/>
            <a:ext cx="4160520" cy="5387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65D7F5-2D95-42DE-9F87-286D0242692A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551534" y="3077227"/>
            <a:ext cx="4236720" cy="27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86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637"/>
                </a:solidFill>
                <a:latin typeface="Aptos Display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A80"/>
                </a:solidFill>
                <a:latin typeface="Aptos"/>
              </a:rPr>
              <a:t>Understanding why predictions fail — and how to improve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44805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D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FALSE POSITIVE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97180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A non-skill term is extracted as a skill.
Example:
“experience with cloud technologies”
Root cause: broad matching /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44805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4480560"/>
          </a:xfrm>
          <a:prstGeom prst="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FALSE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7180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An actual skill is missed.
Example:
A new or uncommon technology not present in the taxonomy.
Root cause: limited vocabulary.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448056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73152" cy="448056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2971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NORMALIZATION / 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2971800" cy="3749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Examples:
ML → Machine Learning
Python 3 → Python
PowerBI → Power BI
Root cause: synonyms, abbreviations and formatting.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E6DE6"/>
                </a:solidFill>
                <a:latin typeface="Aptos"/>
              </a:rPr>
              <a:t>Key lesson: evaluation tells us HOW WELL the system works; error analysis tells us WHY.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A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72EB0D-87FD-4A9C-A8B5-B1AE5F337F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462" y="237057"/>
            <a:ext cx="5525328" cy="23964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4A6E74-D18B-44F5-8A22-0150D61C028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3037" y="2997844"/>
            <a:ext cx="5428006" cy="355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6B4DD9-1246-4637-BF6B-0820AD882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905" y="196849"/>
            <a:ext cx="5692633" cy="60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111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249B85-EB60-4958-9D70-3C8A0B63AF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7372" y="165188"/>
            <a:ext cx="10636227" cy="31426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D67807-81DC-4A51-A436-A049575FD55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3976" y="3429000"/>
            <a:ext cx="5731510" cy="3150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08EE55-25EB-4EE8-AF60-24D4AF10E5A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09111" y="3307803"/>
            <a:ext cx="5731510" cy="315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57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C8D8"/>
                </a:solidFill>
                <a:latin typeface="Aptos"/>
              </a:rPr>
              <a:t>Turning extracted skills into business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14884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2E6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JOB POSTINGS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21488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1.6M+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325880"/>
            <a:ext cx="214884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7C5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481328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TOP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55648"/>
            <a:ext cx="21488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25880"/>
            <a:ext cx="214884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25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1481328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755648"/>
            <a:ext cx="21488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Job Title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25880"/>
            <a:ext cx="2148840" cy="1051560"/>
          </a:xfrm>
          <a:prstGeom prst="roundRect">
            <a:avLst/>
          </a:prstGeom>
          <a:solidFill>
            <a:srgbClr val="1F2A40"/>
          </a:solidFill>
          <a:ln>
            <a:solidFill>
              <a:srgbClr val="35A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1481328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1">
                <a:solidFill>
                  <a:srgbClr val="AFBBCE"/>
                </a:solidFill>
                <a:latin typeface="Aptos"/>
              </a:rPr>
              <a:t>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755648"/>
            <a:ext cx="21488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97480"/>
            <a:ext cx="5074920" cy="260604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3152" cy="260604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88036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TOP IN-DEMAND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91840"/>
            <a:ext cx="466344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Python
SQL
Excel
Power BI
Machine Learning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697480"/>
            <a:ext cx="5440680" cy="2606040"/>
          </a:xfrm>
          <a:prstGeom prst="roundRect">
            <a:avLst/>
          </a:prstGeom>
          <a:solidFill>
            <a:srgbClr val="1F2A40"/>
          </a:solidFill>
          <a:ln>
            <a:solidFill>
              <a:srgbClr val="394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2697480"/>
            <a:ext cx="73152" cy="2606040"/>
          </a:xfrm>
          <a:prstGeom prst="rect">
            <a:avLst/>
          </a:prstGeom>
          <a:solidFill>
            <a:srgbClr val="2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88036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SKILLS BY ROLE / 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91840"/>
            <a:ext cx="502920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CDD6E5"/>
                </a:solidFill>
                <a:latin typeface="Aptos"/>
              </a:rPr>
              <a:t>Use Power BI visuals to compare skill demand across job titles, roles, locations and experience levels.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25BEBE"/>
                </a:solidFill>
                <a:latin typeface="Aptos"/>
              </a:rPr>
              <a:t>Dashboard goal: convert NLP output into clear, actionable recruitment analytics.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6A0B4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83C041-98F1-4A6D-A133-A97EF1B60F2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446" y="300942"/>
            <a:ext cx="9734308" cy="62850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9760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637"/>
                </a:solidFill>
                <a:latin typeface="Aptos Display"/>
              </a:rPr>
              <a:t>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A80"/>
                </a:solidFill>
                <a:latin typeface="Aptos"/>
              </a:rPr>
              <a:t>Demonstrating the complete extraction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657600" cy="443484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443484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246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INPUT — JOB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246120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Looking for a Data Analyst with Python, SQL, Excel and Power BI experience.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34840" y="3520440"/>
            <a:ext cx="868680" cy="0"/>
          </a:xfrm>
          <a:prstGeom prst="line">
            <a:avLst/>
          </a:prstGeom>
          <a:ln w="38100">
            <a:solidFill>
              <a:srgbClr val="2E6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1325880"/>
            <a:ext cx="2468880" cy="443484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73152" cy="443484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150876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NLP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920240"/>
            <a:ext cx="2057400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Clean
↓
Extract
↓
Normalize
↓
Return skills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3520440"/>
            <a:ext cx="822960" cy="0"/>
          </a:xfrm>
          <a:prstGeom prst="line">
            <a:avLst/>
          </a:prstGeom>
          <a:ln w="38100">
            <a:solidFill>
              <a:srgbClr val="25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98280" y="1325880"/>
            <a:ext cx="2468880" cy="443484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98280" y="1325880"/>
            <a:ext cx="73152" cy="4434840"/>
          </a:xfrm>
          <a:prstGeom prst="rect">
            <a:avLst/>
          </a:prstGeom>
          <a:solidFill>
            <a:srgbClr val="35A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508760"/>
            <a:ext cx="2057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20240"/>
            <a:ext cx="2057400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Python
SQL
Excel
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2E6DE6"/>
                </a:solidFill>
                <a:latin typeface="Aptos"/>
              </a:rPr>
              <a:t>Demo message: unstructured text in → standardized skills 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A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3EC95D-667F-4241-8555-1B0F5AA0F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2" y="134655"/>
            <a:ext cx="3825572" cy="4389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17361C-C08A-4053-8DF1-26B9AEE2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851" y="0"/>
            <a:ext cx="68637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36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C8D8"/>
                </a:solidFill>
                <a:latin typeface="Aptos"/>
              </a:rPr>
              <a:t>What the project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D2DCEB"/>
                </a:solidFill>
                <a:latin typeface="Aptos"/>
              </a:defRPr>
            </a:pPr>
            <a:r>
              <a:t>• Prepared and analyzed a 1.6M+ job-description dataset.</a:t>
            </a:r>
          </a:p>
          <a:p>
            <a:pPr>
              <a:spcAft>
                <a:spcPts val="1000"/>
              </a:spcAft>
              <a:defRPr sz="1400">
                <a:solidFill>
                  <a:srgbClr val="D2DCEB"/>
                </a:solidFill>
                <a:latin typeface="Aptos"/>
              </a:defRPr>
            </a:pPr>
            <a:r>
              <a:t>• Built a structured skill taxonomy for consistent extraction.</a:t>
            </a:r>
          </a:p>
          <a:p>
            <a:pPr>
              <a:spcAft>
                <a:spcPts val="1000"/>
              </a:spcAft>
              <a:defRPr sz="1400">
                <a:solidFill>
                  <a:srgbClr val="D2DCEB"/>
                </a:solidFill>
                <a:latin typeface="Aptos"/>
              </a:defRPr>
            </a:pPr>
            <a:r>
              <a:t>• Implemented dictionary, Regex and phrase-matching baselines.</a:t>
            </a:r>
          </a:p>
          <a:p>
            <a:pPr>
              <a:spcAft>
                <a:spcPts val="1000"/>
              </a:spcAft>
              <a:defRPr sz="1400">
                <a:solidFill>
                  <a:srgbClr val="D2DCEB"/>
                </a:solidFill>
                <a:latin typeface="Aptos"/>
              </a:defRPr>
            </a:pPr>
            <a:r>
              <a:t>• Explored TF-IDF, N-Grams, Machine Learning and Transformer approaches.</a:t>
            </a:r>
          </a:p>
          <a:p>
            <a:pPr>
              <a:spcAft>
                <a:spcPts val="1000"/>
              </a:spcAft>
              <a:defRPr sz="1400">
                <a:solidFill>
                  <a:srgbClr val="D2DCEB"/>
                </a:solidFill>
                <a:latin typeface="Aptos"/>
              </a:defRPr>
            </a:pPr>
            <a:r>
              <a:t>• Performed evaluation and error analysis to understand model weaknesses.</a:t>
            </a:r>
          </a:p>
          <a:p>
            <a:pPr>
              <a:spcAft>
                <a:spcPts val="1000"/>
              </a:spcAft>
              <a:defRPr sz="1400">
                <a:solidFill>
                  <a:srgbClr val="D2DCEB"/>
                </a:solidFill>
                <a:latin typeface="Aptos"/>
              </a:defRPr>
            </a:pPr>
            <a:r>
              <a:t>• Normalized skill variations into canonical names.</a:t>
            </a:r>
          </a:p>
          <a:p>
            <a:pPr>
              <a:spcAft>
                <a:spcPts val="1000"/>
              </a:spcAft>
              <a:defRPr sz="1400">
                <a:solidFill>
                  <a:srgbClr val="D2DCEB"/>
                </a:solidFill>
                <a:latin typeface="Aptos"/>
              </a:defRPr>
            </a:pPr>
            <a:r>
              <a:t>• Prepared outputs for Power BI analytics and application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241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25BEBE"/>
                </a:solidFill>
                <a:latin typeface="Aptos"/>
              </a:rPr>
              <a:t>UNSTRUCTURED TEXT  →  NLP  →  STANDARDIZED SKILLS  →  BUSINESS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6A0B4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E2637"/>
                </a:solidFill>
                <a:latin typeface="Aptos Display"/>
              </a:rP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A80"/>
                </a:solidFill>
                <a:latin typeface="Aptos"/>
              </a:rPr>
              <a:t>From internship prototype to production-ready recruitment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91440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0600" cy="182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Fine-tune a Transformer model with domain-specific skill annotations.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52120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468880"/>
            <a:ext cx="73152" cy="91440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800600" cy="182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Continuously expand the taxonomy with emerging technologies.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11880"/>
            <a:ext cx="52120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611880"/>
            <a:ext cx="73152" cy="914400"/>
          </a:xfrm>
          <a:prstGeom prst="rect">
            <a:avLst/>
          </a:prstGeom>
          <a:solidFill>
            <a:srgbClr val="2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4800600" cy="182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Improve synonym, abbreviation and context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54880"/>
            <a:ext cx="52120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754880"/>
            <a:ext cx="73152" cy="914400"/>
          </a:xfrm>
          <a:prstGeom prst="rect">
            <a:avLst/>
          </a:prstGeom>
          <a:solidFill>
            <a:srgbClr val="35A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4800600" cy="182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Support multilingual job descriptions.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325880"/>
            <a:ext cx="52120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73152" cy="914400"/>
          </a:xfrm>
          <a:prstGeom prst="rect">
            <a:avLst/>
          </a:prstGeom>
          <a:solidFill>
            <a:srgbClr val="EF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508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920240"/>
            <a:ext cx="4800600" cy="182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Expose real-time extraction through an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468880"/>
            <a:ext cx="52120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468880"/>
            <a:ext cx="73152" cy="914400"/>
          </a:xfrm>
          <a:prstGeom prst="rect">
            <a:avLst/>
          </a:prstGeom>
          <a:solidFill>
            <a:srgbClr val="2E6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2651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063240"/>
            <a:ext cx="4800600" cy="182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Add resume–job matching and skill-gap analysis.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611880"/>
            <a:ext cx="52120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3611880"/>
            <a:ext cx="73152" cy="914400"/>
          </a:xfrm>
          <a:prstGeom prst="rect">
            <a:avLst/>
          </a:prstGeom>
          <a:solidFill>
            <a:srgbClr val="7C5B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3794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206240"/>
            <a:ext cx="4800600" cy="182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Build personalized job recommendations.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754880"/>
            <a:ext cx="5212080" cy="914400"/>
          </a:xfrm>
          <a:prstGeom prst="roundRect">
            <a:avLst/>
          </a:prstGeom>
          <a:solidFill>
            <a:srgbClr val="F2F6FC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754880"/>
            <a:ext cx="73152" cy="914400"/>
          </a:xfrm>
          <a:prstGeom prst="rect">
            <a:avLst/>
          </a:prstGeom>
          <a:solidFill>
            <a:srgbClr val="2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4937760"/>
            <a:ext cx="4800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E2637"/>
                </a:solidFill>
                <a:latin typeface="Aptos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349240"/>
            <a:ext cx="4800600" cy="182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0">
                <a:solidFill>
                  <a:srgbClr val="5C6A80"/>
                </a:solidFill>
                <a:latin typeface="Aptos"/>
              </a:rPr>
              <a:t>Deploy the solution as a scalable web application.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2E6DE6"/>
                </a:solidFill>
                <a:latin typeface="Aptos"/>
              </a:rPr>
              <a:t>LONG-TERM VISION  •  Jobs + Skills + Candidates + Recommendations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A80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1258</Words>
  <Application>Microsoft Office PowerPoint</Application>
  <PresentationFormat>Widescreen</PresentationFormat>
  <Paragraphs>209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Sanket Desai</cp:lastModifiedBy>
  <cp:revision>10</cp:revision>
  <dcterms:created xsi:type="dcterms:W3CDTF">2013-01-27T09:14:16Z</dcterms:created>
  <dcterms:modified xsi:type="dcterms:W3CDTF">2026-09-05T18:22:32Z</dcterms:modified>
  <cp:category/>
</cp:coreProperties>
</file>